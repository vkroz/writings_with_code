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pass@k</c:v>
                </c:pt>
              </c:strCache>
            </c:strRef>
          </c:tx>
          <c:spPr>
            <a:solidFill>
              <a:srgbClr val="2563EB"/>
            </a:solidFill>
            <a:ln w="38160">
              <a:solidFill>
                <a:srgbClr val="2563EB"/>
              </a:solidFill>
              <a:round/>
            </a:ln>
          </c:spPr>
          <c:marker>
            <c:symbol val="circle"/>
            <c:size val="6"/>
            <c:spPr>
              <a:solidFill>
                <a:srgbClr val="2563EB"/>
              </a:solidFill>
            </c:spPr>
          </c:marke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0</c:f>
              <c:numCache>
                <c:formatCode>0%</c:formatCode>
                <c:ptCount val="8"/>
                <c:pt idx="0">
                  <c:v>90</c:v>
                </c:pt>
                <c:pt idx="1">
                  <c:v>99</c:v>
                </c:pt>
                <c:pt idx="2">
                  <c:v>99.9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pass^k</c:v>
                </c:pt>
              </c:strCache>
            </c:strRef>
          </c:tx>
          <c:spPr>
            <a:solidFill>
              <a:srgbClr val="EA580C"/>
            </a:solidFill>
            <a:ln w="38160">
              <a:solidFill>
                <a:srgbClr val="EA580C"/>
              </a:solidFill>
              <a:round/>
            </a:ln>
          </c:spPr>
          <c:marker>
            <c:symbol val="square"/>
            <c:size val="6"/>
            <c:spPr>
              <a:solidFill>
                <a:srgbClr val="EA580C"/>
              </a:solidFill>
            </c:spPr>
          </c:marke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1</c:f>
              <c:numCache>
                <c:formatCode>0%</c:formatCode>
                <c:ptCount val="8"/>
                <c:pt idx="0">
                  <c:v>90</c:v>
                </c:pt>
                <c:pt idx="1">
                  <c:v>81</c:v>
                </c:pt>
                <c:pt idx="2">
                  <c:v>72.9</c:v>
                </c:pt>
                <c:pt idx="3">
                  <c:v>65.6</c:v>
                </c:pt>
                <c:pt idx="4">
                  <c:v>59</c:v>
                </c:pt>
                <c:pt idx="5">
                  <c:v>53.1</c:v>
                </c:pt>
                <c:pt idx="6">
                  <c:v>47.8</c:v>
                </c:pt>
                <c:pt idx="7">
                  <c:v>43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2237714"/>
        <c:axId val="61833573"/>
      </c:lineChart>
      <c:catAx>
        <c:axId val="22237714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1" u="none" strike="noStrike">
                    <a:solidFill>
                      <a:srgbClr val="000000"/>
                    </a:solidFill>
                    <a:uFillTx/>
                    <a:latin typeface="Calibri"/>
                    <a:ea typeface="Calibri"/>
                  </a:rPr>
                  <a:t>attempts required / allowed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61833573"/>
        <c:crosses val="autoZero"/>
        <c:auto val="1"/>
        <c:lblAlgn val="ctr"/>
        <c:lblOffset val="100"/>
        <c:noMultiLvlLbl val="0"/>
      </c:catAx>
      <c:valAx>
        <c:axId val="61833573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22237714"/>
        <c:crosses val="autoZero"/>
        <c:crossBetween val="between"/>
        <c:majorUnit val="2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50" b="0" u="none" strike="noStrike">
              <a:solidFill>
                <a:srgbClr val="4B5563"/>
              </a:solidFill>
              <a:uFillTx/>
              <a:latin typeface="Calibri"/>
              <a:ea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Annual improvement</c:v>
                </c:pt>
              </c:strCache>
            </c:strRef>
          </c:tx>
          <c:spPr>
            <a:solidFill>
              <a:srgbClr val="2563EB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EA580C"/>
              </a:solidFill>
              <a:ln w="0">
                <a:noFill/>
              </a:ln>
            </c:spPr>
          </c:dPt>
          <c:dLbls>
            <c:dLbl>
              <c:idx val="1"/>
              <c:numFmt formatCode="0.00" sourceLinked="0"/>
              <c:txPr>
                <a:bodyPr wrap="square"/>
                <a:lstStyle/>
                <a:p>
                  <a:pPr>
                    <a:defRPr sz="1050" b="1" u="none" strike="noStrike">
                      <a:solidFill>
                        <a:srgbClr val="11182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" sourceLinked="0"/>
            <c:txPr>
              <a:bodyPr wrap="square"/>
              <a:lstStyle/>
              <a:p>
                <a:pPr>
                  <a:defRPr sz="1050" b="1" u="none" strike="noStrike">
                    <a:solidFill>
                      <a:srgbClr val="111827"/>
                    </a:solidFill>
                    <a:uFillTx/>
                    <a:latin typeface="Calibri"/>
                    <a:ea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Accuracy</c:v>
                </c:pt>
                <c:pt idx="1">
                  <c:v>Aggregate reliability</c:v>
                </c:pt>
              </c:strCache>
            </c:strRef>
          </c:cat>
          <c:val>
            <c:numRef>
              <c:f>0</c:f>
              <c:numCache>
                <c:formatCode>0.00</c:formatCode>
                <c:ptCount val="2"/>
                <c:pt idx="0">
                  <c:v>0.21</c:v>
                </c:pt>
                <c:pt idx="1">
                  <c:v>0.03</c:v>
                </c:pt>
              </c:numCache>
            </c:numRef>
          </c:val>
        </c:ser>
        <c:gapWidth val="72"/>
        <c:overlap val="0"/>
        <c:axId val="10530248"/>
        <c:axId val="11602362"/>
      </c:barChart>
      <c:catAx>
        <c:axId val="105302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11602362"/>
        <c:crosses val="autoZero"/>
        <c:auto val="1"/>
        <c:lblAlgn val="ctr"/>
        <c:lblOffset val="100"/>
        <c:noMultiLvlLbl val="0"/>
      </c:catAx>
      <c:valAx>
        <c:axId val="11602362"/>
        <c:scaling>
          <c:orientation val="minMax"/>
          <c:max val="0.24"/>
          <c:min val="0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10530248"/>
        <c:crosses val="autoZero"/>
        <c:crossBetween val="between"/>
        <c:majorUnit val="0.06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Retained performance</c:v>
                </c:pt>
              </c:strCache>
            </c:strRef>
          </c:tx>
          <c:spPr>
            <a:solidFill>
              <a:srgbClr val="2563EB"/>
            </a:solidFill>
            <a:ln w="0">
              <a:noFill/>
            </a:ln>
          </c:spPr>
          <c:invertIfNegative val="0"/>
          <c:dPt>
            <c:idx val="2"/>
            <c:invertIfNegative val="0"/>
            <c:spPr>
              <a:solidFill>
                <a:srgbClr val="EA580C"/>
              </a:solidFill>
              <a:ln w="0">
                <a:noFill/>
              </a:ln>
            </c:spPr>
          </c:dPt>
          <c:dLbls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sz="975" b="1" u="none" strike="noStrike">
                      <a:solidFill>
                        <a:srgbClr val="11182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General" sourceLinked="0"/>
            <c:txPr>
              <a:bodyPr wrap="square"/>
              <a:lstStyle/>
              <a:p>
                <a:pPr>
                  <a:defRPr sz="975" b="1" u="none" strike="noStrike">
                    <a:solidFill>
                      <a:srgbClr val="111827"/>
                    </a:solidFill>
                    <a:uFillTx/>
                    <a:latin typeface="Calibri"/>
                    <a:ea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Tool faults</c:v>
                </c:pt>
                <c:pt idx="1">
                  <c:v>Environment changes</c:v>
                </c:pt>
                <c:pt idx="2">
                  <c:v>Prompt paraphrases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0.95</c:v>
                </c:pt>
                <c:pt idx="1">
                  <c:v>1</c:v>
                </c:pt>
                <c:pt idx="2">
                  <c:v>0.56</c:v>
                </c:pt>
              </c:numCache>
            </c:numRef>
          </c:val>
        </c:ser>
        <c:gapWidth val="52"/>
        <c:overlap val="0"/>
        <c:axId val="22981773"/>
        <c:axId val="31660428"/>
      </c:barChart>
      <c:catAx>
        <c:axId val="22981773"/>
        <c:scaling>
          <c:orientation val="minMax"/>
        </c:scaling>
        <c:delete val="0"/>
        <c:axPos val="b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31660428"/>
        <c:crosses val="autoZero"/>
        <c:auto val="1"/>
        <c:lblAlgn val="ctr"/>
        <c:lblOffset val="100"/>
        <c:noMultiLvlLbl val="0"/>
      </c:catAx>
      <c:valAx>
        <c:axId val="3166042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75" b="0" u="none" strike="noStrike">
                <a:solidFill>
                  <a:srgbClr val="4B5563"/>
                </a:solidFill>
                <a:uFillTx/>
                <a:latin typeface="Calibri"/>
                <a:ea typeface="Calibri"/>
              </a:defRPr>
            </a:pPr>
          </a:p>
        </c:txPr>
        <c:crossAx val="2298177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FC23683-E8FE-494F-89AD-B21611813F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/>
          <p:cNvSpPr/>
          <p:nvPr/>
        </p:nvSpPr>
        <p:spPr>
          <a:xfrm>
            <a:off x="609480" y="514440"/>
            <a:ext cx="4381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25-minute craft presentation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itle"/>
          <p:cNvSpPr/>
          <p:nvPr/>
        </p:nvSpPr>
        <p:spPr>
          <a:xfrm>
            <a:off x="609480" y="1542960"/>
            <a:ext cx="6571800" cy="19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Reliable </a:t>
            </a: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AI agents </a:t>
            </a: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need </a:t>
            </a: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more than </a:t>
            </a: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task </a:t>
            </a:r>
            <a:r>
              <a:rPr lang="en-US" sz="40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success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ubtitle"/>
          <p:cNvSpPr/>
          <p:nvPr/>
        </p:nvSpPr>
        <p:spPr>
          <a:xfrm>
            <a:off x="609480" y="3676680"/>
            <a:ext cx="638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Wh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at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τ-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ben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ch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and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the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age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nt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reli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abil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ity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fra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me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wor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k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cha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nge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abo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ut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ho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ML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sys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tem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are 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buil</a:t>
            </a: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itle-thesis-panel"/>
          <p:cNvSpPr/>
          <p:nvPr/>
        </p:nvSpPr>
        <p:spPr>
          <a:xfrm>
            <a:off x="7524720" y="1504800"/>
            <a:ext cx="3447720" cy="24188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itle-thesis-accent"/>
          <p:cNvSpPr/>
          <p:nvPr/>
        </p:nvSpPr>
        <p:spPr>
          <a:xfrm>
            <a:off x="7524720" y="1504800"/>
            <a:ext cx="75960" cy="24188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itle-thesis-head"/>
          <p:cNvSpPr/>
          <p:nvPr/>
        </p:nvSpPr>
        <p:spPr>
          <a:xfrm>
            <a:off x="7753320" y="1714680"/>
            <a:ext cx="2990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Core thesis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itle-thesis-body"/>
          <p:cNvSpPr/>
          <p:nvPr/>
        </p:nvSpPr>
        <p:spPr>
          <a:xfrm>
            <a:off x="7753320" y="2171880"/>
            <a:ext cx="2990520" cy="15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 capable model can still be an unreliable product. The engineering question is repeatable behavior under real operating conditions.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ource"/>
          <p:cNvSpPr/>
          <p:nvPr/>
        </p:nvSpPr>
        <p:spPr>
          <a:xfrm>
            <a:off x="609480" y="6419880"/>
            <a:ext cx="1097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Helvetica Neue"/>
                <a:ea typeface="Helvetica Neue"/>
              </a:rPr>
              <a:t>Based on: τ-bench (2024), Towards a Science of AI Agent Reliability, and the attached article.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WHY IT MATTERS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production failure mode is behavioral, not just factual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plit-panel"/>
          <p:cNvSpPr/>
          <p:nvPr/>
        </p:nvSpPr>
        <p:spPr>
          <a:xfrm>
            <a:off x="685800" y="1886040"/>
            <a:ext cx="495252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plit-accent"/>
          <p:cNvSpPr/>
          <p:nvPr/>
        </p:nvSpPr>
        <p:spPr>
          <a:xfrm>
            <a:off x="685800" y="1886040"/>
            <a:ext cx="75960" cy="112356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replit-head"/>
          <p:cNvSpPr/>
          <p:nvPr/>
        </p:nvSpPr>
        <p:spPr>
          <a:xfrm>
            <a:off x="914400" y="209556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Replit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plit-body"/>
          <p:cNvSpPr/>
          <p:nvPr/>
        </p:nvSpPr>
        <p:spPr>
          <a:xfrm>
            <a:off x="914400" y="2552760"/>
            <a:ext cx="449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 coding agent deleted a live production database during a code freeze.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air-panel"/>
          <p:cNvSpPr/>
          <p:nvPr/>
        </p:nvSpPr>
        <p:spPr>
          <a:xfrm>
            <a:off x="685800" y="3257640"/>
            <a:ext cx="495252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air-accent"/>
          <p:cNvSpPr/>
          <p:nvPr/>
        </p:nvSpPr>
        <p:spPr>
          <a:xfrm>
            <a:off x="685800" y="3257640"/>
            <a:ext cx="75960" cy="112356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air-head"/>
          <p:cNvSpPr/>
          <p:nvPr/>
        </p:nvSpPr>
        <p:spPr>
          <a:xfrm>
            <a:off x="914400" y="346716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Air Canada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air-body"/>
          <p:cNvSpPr/>
          <p:nvPr/>
        </p:nvSpPr>
        <p:spPr>
          <a:xfrm>
            <a:off x="914400" y="3924360"/>
            <a:ext cx="449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 chatbot invented a bereavement-refund policy; a tribunal rejected the airline's defense.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operator-panel"/>
          <p:cNvSpPr/>
          <p:nvPr/>
        </p:nvSpPr>
        <p:spPr>
          <a:xfrm>
            <a:off x="6553080" y="1886040"/>
            <a:ext cx="495252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operator-accent"/>
          <p:cNvSpPr/>
          <p:nvPr/>
        </p:nvSpPr>
        <p:spPr>
          <a:xfrm>
            <a:off x="6553080" y="1886040"/>
            <a:ext cx="75960" cy="112356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operator-head"/>
          <p:cNvSpPr/>
          <p:nvPr/>
        </p:nvSpPr>
        <p:spPr>
          <a:xfrm>
            <a:off x="6781680" y="209556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perator-body"/>
          <p:cNvSpPr/>
          <p:nvPr/>
        </p:nvSpPr>
        <p:spPr>
          <a:xfrm>
            <a:off x="6781680" y="2552760"/>
            <a:ext cx="449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An agent bought eggs for $31.43 without asking for required confirmation.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nyc-panel"/>
          <p:cNvSpPr/>
          <p:nvPr/>
        </p:nvSpPr>
        <p:spPr>
          <a:xfrm>
            <a:off x="6553080" y="3257640"/>
            <a:ext cx="495252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nyc-accent"/>
          <p:cNvSpPr/>
          <p:nvPr/>
        </p:nvSpPr>
        <p:spPr>
          <a:xfrm>
            <a:off x="6553080" y="3257640"/>
            <a:ext cx="75960" cy="112356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nyc-head"/>
          <p:cNvSpPr/>
          <p:nvPr/>
        </p:nvSpPr>
        <p:spPr>
          <a:xfrm>
            <a:off x="6781680" y="346716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NYC chatbot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nyc-body"/>
          <p:cNvSpPr/>
          <p:nvPr/>
        </p:nvSpPr>
        <p:spPr>
          <a:xfrm>
            <a:off x="6781680" y="3924360"/>
            <a:ext cx="449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Ten journalists received ten different wrong answers from the same business chatbot.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akeaway"/>
          <p:cNvSpPr/>
          <p:nvPr/>
        </p:nvSpPr>
        <p:spPr>
          <a:xfrm>
            <a:off x="1143000" y="5181480"/>
            <a:ext cx="9905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common pattern: the system did something plausible once, then failed under policy, repetition, confirmation, or consistency pressure.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PROBLEM FRAMING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 single green run is weak evidence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ne-line"/>
          <p:cNvSpPr/>
          <p:nvPr/>
        </p:nvSpPr>
        <p:spPr>
          <a:xfrm>
            <a:off x="876240" y="1847880"/>
            <a:ext cx="990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Agents are stochastic systems assembled from a model, prompt, memory, tools, policies, permissions, orchestration, and external state.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lassic-panel"/>
          <p:cNvSpPr/>
          <p:nvPr/>
        </p:nvSpPr>
        <p:spPr>
          <a:xfrm>
            <a:off x="990720" y="3124080"/>
            <a:ext cx="4190760" cy="1523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classic-accent"/>
          <p:cNvSpPr/>
          <p:nvPr/>
        </p:nvSpPr>
        <p:spPr>
          <a:xfrm>
            <a:off x="990720" y="3124080"/>
            <a:ext cx="75960" cy="152352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classic-head"/>
          <p:cNvSpPr/>
          <p:nvPr/>
        </p:nvSpPr>
        <p:spPr>
          <a:xfrm>
            <a:off x="1219320" y="3333600"/>
            <a:ext cx="37335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Classic benchmark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classic-body"/>
          <p:cNvSpPr/>
          <p:nvPr/>
        </p:nvSpPr>
        <p:spPr>
          <a:xfrm>
            <a:off x="1219320" y="3790800"/>
            <a:ext cx="37335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Can the agent complete the task once?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deploy-panel"/>
          <p:cNvSpPr/>
          <p:nvPr/>
        </p:nvSpPr>
        <p:spPr>
          <a:xfrm>
            <a:off x="7010280" y="3124080"/>
            <a:ext cx="4190760" cy="1523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deploy-accent"/>
          <p:cNvSpPr/>
          <p:nvPr/>
        </p:nvSpPr>
        <p:spPr>
          <a:xfrm>
            <a:off x="7010280" y="3124080"/>
            <a:ext cx="75960" cy="15235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deploy-head"/>
          <p:cNvSpPr/>
          <p:nvPr/>
        </p:nvSpPr>
        <p:spPr>
          <a:xfrm>
            <a:off x="7238880" y="3333600"/>
            <a:ext cx="37335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Production question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deploy-body"/>
          <p:cNvSpPr/>
          <p:nvPr/>
        </p:nvSpPr>
        <p:spPr>
          <a:xfrm>
            <a:off x="7238880" y="3790800"/>
            <a:ext cx="37335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Will it behave correctly, consistently, robustly, predictably, and safely across repeated real interactions?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295600" y="3886200"/>
            <a:ext cx="1581120" cy="360"/>
          </a:xfrm>
          <a:prstGeom prst="line">
            <a:avLst/>
          </a:prstGeom>
          <a:ln w="28575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arrow"/>
          <p:cNvSpPr/>
          <p:nvPr/>
        </p:nvSpPr>
        <p:spPr>
          <a:xfrm>
            <a:off x="5924520" y="3600360"/>
            <a:ext cx="342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9CA3AF"/>
                </a:solidFill>
                <a:effectLst/>
                <a:uFillTx/>
                <a:latin typeface="Helvetica Neue"/>
                <a:ea typeface="Helvetica Neue"/>
              </a:rPr>
              <a:t>&gt;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Τ-BENCH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τ-bench turns agent reliability into a repeatable test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env-panel"/>
          <p:cNvSpPr/>
          <p:nvPr/>
        </p:nvSpPr>
        <p:spPr>
          <a:xfrm>
            <a:off x="723960" y="1828800"/>
            <a:ext cx="3276360" cy="17143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env-accent"/>
          <p:cNvSpPr/>
          <p:nvPr/>
        </p:nvSpPr>
        <p:spPr>
          <a:xfrm>
            <a:off x="723960" y="1828800"/>
            <a:ext cx="75960" cy="17143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env-head"/>
          <p:cNvSpPr/>
          <p:nvPr/>
        </p:nvSpPr>
        <p:spPr>
          <a:xfrm>
            <a:off x="952560" y="2038320"/>
            <a:ext cx="2819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Production-like environment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env-body"/>
          <p:cNvSpPr/>
          <p:nvPr/>
        </p:nvSpPr>
        <p:spPr>
          <a:xfrm>
            <a:off x="952560" y="2495520"/>
            <a:ext cx="281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Database, API tools, natural-language policy, simulated users, and annotated goal states.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domains-panel"/>
          <p:cNvSpPr/>
          <p:nvPr/>
        </p:nvSpPr>
        <p:spPr>
          <a:xfrm>
            <a:off x="4457880" y="1828800"/>
            <a:ext cx="3276360" cy="17143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domains-accent"/>
          <p:cNvSpPr/>
          <p:nvPr/>
        </p:nvSpPr>
        <p:spPr>
          <a:xfrm>
            <a:off x="4457880" y="1828800"/>
            <a:ext cx="75960" cy="171432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domains-head"/>
          <p:cNvSpPr/>
          <p:nvPr/>
        </p:nvSpPr>
        <p:spPr>
          <a:xfrm>
            <a:off x="4686480" y="2038320"/>
            <a:ext cx="2819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Two concrete domains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domains-body"/>
          <p:cNvSpPr/>
          <p:nvPr/>
        </p:nvSpPr>
        <p:spPr>
          <a:xfrm>
            <a:off x="4686480" y="2495520"/>
            <a:ext cx="281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τ-retail: 115 tasks, 15 tools.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τ-airline: 50 tasks, 13 tools with harder policy logic.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rading-panel"/>
          <p:cNvSpPr/>
          <p:nvPr/>
        </p:nvSpPr>
        <p:spPr>
          <a:xfrm>
            <a:off x="8191440" y="1828800"/>
            <a:ext cx="3276360" cy="17143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rading-accent"/>
          <p:cNvSpPr/>
          <p:nvPr/>
        </p:nvSpPr>
        <p:spPr>
          <a:xfrm>
            <a:off x="8191440" y="1828800"/>
            <a:ext cx="75960" cy="171432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rading-head"/>
          <p:cNvSpPr/>
          <p:nvPr/>
        </p:nvSpPr>
        <p:spPr>
          <a:xfrm>
            <a:off x="8420040" y="2038320"/>
            <a:ext cx="2819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Outcome-based grading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rading-body"/>
          <p:cNvSpPr/>
          <p:nvPr/>
        </p:nvSpPr>
        <p:spPr>
          <a:xfrm>
            <a:off x="8420040" y="2495520"/>
            <a:ext cx="281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 run succeeds only if the database state is correct and the user-facing message contains required information.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ormula"/>
          <p:cNvSpPr/>
          <p:nvPr/>
        </p:nvSpPr>
        <p:spPr>
          <a:xfrm>
            <a:off x="2895480" y="4267080"/>
            <a:ext cx="6400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 = r_action x r_output in {0,1}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note"/>
          <p:cNvSpPr/>
          <p:nvPr/>
        </p:nvSpPr>
        <p:spPr>
          <a:xfrm>
            <a:off x="1714680" y="5048280"/>
            <a:ext cx="8762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The path can vary, but the endpoint is deterministic and cheap to re-score. That makes repeated trials practical.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THE KEY METRIC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pass@k rewards search; pass^k measures service reliability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8" name="Chart"/>
          <p:cNvGraphicFramePr/>
          <p:nvPr/>
        </p:nvGraphicFramePr>
        <p:xfrm>
          <a:off x="723960" y="1924200"/>
          <a:ext cx="6571800" cy="323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9" name="passat-panel"/>
          <p:cNvSpPr/>
          <p:nvPr/>
        </p:nvSpPr>
        <p:spPr>
          <a:xfrm>
            <a:off x="7962840" y="1962000"/>
            <a:ext cx="3238200" cy="11998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assat-accent"/>
          <p:cNvSpPr/>
          <p:nvPr/>
        </p:nvSpPr>
        <p:spPr>
          <a:xfrm>
            <a:off x="7962840" y="1962000"/>
            <a:ext cx="75960" cy="11998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assat-head"/>
          <p:cNvSpPr/>
          <p:nvPr/>
        </p:nvSpPr>
        <p:spPr>
          <a:xfrm>
            <a:off x="8191440" y="2171880"/>
            <a:ext cx="2781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pass@k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assat-body"/>
          <p:cNvSpPr/>
          <p:nvPr/>
        </p:nvSpPr>
        <p:spPr>
          <a:xfrm>
            <a:off x="8191440" y="2629080"/>
            <a:ext cx="2781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At least one of k attempts succeeds. Useful when a system can choose among candidates.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asspow-panel"/>
          <p:cNvSpPr/>
          <p:nvPr/>
        </p:nvSpPr>
        <p:spPr>
          <a:xfrm>
            <a:off x="7962840" y="3486240"/>
            <a:ext cx="3238200" cy="11998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asspow-accent"/>
          <p:cNvSpPr/>
          <p:nvPr/>
        </p:nvSpPr>
        <p:spPr>
          <a:xfrm>
            <a:off x="7962840" y="3486240"/>
            <a:ext cx="75960" cy="119988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asspow-head"/>
          <p:cNvSpPr/>
          <p:nvPr/>
        </p:nvSpPr>
        <p:spPr>
          <a:xfrm>
            <a:off x="8191440" y="3695760"/>
            <a:ext cx="2781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pass^k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asspow-body"/>
          <p:cNvSpPr/>
          <p:nvPr/>
        </p:nvSpPr>
        <p:spPr>
          <a:xfrm>
            <a:off x="8191440" y="4152960"/>
            <a:ext cx="2781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All k attempts succeed. Useful when each customer gets one live execution.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example"/>
          <p:cNvSpPr/>
          <p:nvPr/>
        </p:nvSpPr>
        <p:spPr>
          <a:xfrm>
            <a:off x="7962840" y="5124600"/>
            <a:ext cx="3238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 90% single-run agent has pass^8 ~= 43%.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Τ-BENCH RESULTS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τ-bench showed capable agents were not yet dependable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tail pass^1-track"/>
          <p:cNvSpPr/>
          <p:nvPr/>
        </p:nvSpPr>
        <p:spPr>
          <a:xfrm>
            <a:off x="1066680" y="2305080"/>
            <a:ext cx="4095360" cy="399600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tail pass^1-bar"/>
          <p:cNvSpPr/>
          <p:nvPr/>
        </p:nvSpPr>
        <p:spPr>
          <a:xfrm>
            <a:off x="1066680" y="2305080"/>
            <a:ext cx="2504880" cy="3996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tail pass^1-label"/>
          <p:cNvSpPr/>
          <p:nvPr/>
        </p:nvSpPr>
        <p:spPr>
          <a:xfrm>
            <a:off x="1066680" y="2038320"/>
            <a:ext cx="253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Retail pass^1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tail pass^1-value"/>
          <p:cNvSpPr/>
          <p:nvPr/>
        </p:nvSpPr>
        <p:spPr>
          <a:xfrm>
            <a:off x="4305240" y="2038320"/>
            <a:ext cx="85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61.2%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irline pass^1-track"/>
          <p:cNvSpPr/>
          <p:nvPr/>
        </p:nvSpPr>
        <p:spPr>
          <a:xfrm>
            <a:off x="1066680" y="3276720"/>
            <a:ext cx="4095360" cy="399600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Airline pass^1-bar"/>
          <p:cNvSpPr/>
          <p:nvPr/>
        </p:nvSpPr>
        <p:spPr>
          <a:xfrm>
            <a:off x="1066680" y="3276720"/>
            <a:ext cx="1437840" cy="3996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Airline pass^1-label"/>
          <p:cNvSpPr/>
          <p:nvPr/>
        </p:nvSpPr>
        <p:spPr>
          <a:xfrm>
            <a:off x="1066680" y="3009960"/>
            <a:ext cx="253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Airline pass^1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Airline pass^1-value"/>
          <p:cNvSpPr/>
          <p:nvPr/>
        </p:nvSpPr>
        <p:spPr>
          <a:xfrm>
            <a:off x="4305240" y="3009960"/>
            <a:ext cx="85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891B2"/>
                </a:solidFill>
                <a:effectLst/>
                <a:uFillTx/>
                <a:latin typeface="Helvetica Neue"/>
                <a:ea typeface="Helvetica Neue"/>
              </a:rPr>
              <a:t>35.2%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tail pass^8-track"/>
          <p:cNvSpPr/>
          <p:nvPr/>
        </p:nvSpPr>
        <p:spPr>
          <a:xfrm>
            <a:off x="1066680" y="4248000"/>
            <a:ext cx="4095360" cy="399600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tail pass^8-bar"/>
          <p:cNvSpPr/>
          <p:nvPr/>
        </p:nvSpPr>
        <p:spPr>
          <a:xfrm>
            <a:off x="1066680" y="4248000"/>
            <a:ext cx="980640" cy="39960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tail pass^8-label"/>
          <p:cNvSpPr/>
          <p:nvPr/>
        </p:nvSpPr>
        <p:spPr>
          <a:xfrm>
            <a:off x="1066680" y="3981600"/>
            <a:ext cx="253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Retail pass^8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tail pass^8-value"/>
          <p:cNvSpPr/>
          <p:nvPr/>
        </p:nvSpPr>
        <p:spPr>
          <a:xfrm>
            <a:off x="4305240" y="3981600"/>
            <a:ext cx="85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EA580C"/>
                </a:solidFill>
                <a:effectLst/>
                <a:uFillTx/>
                <a:latin typeface="Helvetica Neue"/>
                <a:ea typeface="Helvetica Neue"/>
              </a:rPr>
              <a:t>24%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ailure-panel"/>
          <p:cNvSpPr/>
          <p:nvPr/>
        </p:nvSpPr>
        <p:spPr>
          <a:xfrm>
            <a:off x="6400800" y="2019240"/>
            <a:ext cx="4285800" cy="17902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ailure-accent"/>
          <p:cNvSpPr/>
          <p:nvPr/>
        </p:nvSpPr>
        <p:spPr>
          <a:xfrm>
            <a:off x="6400800" y="2019240"/>
            <a:ext cx="75960" cy="17902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failure-head"/>
          <p:cNvSpPr/>
          <p:nvPr/>
        </p:nvSpPr>
        <p:spPr>
          <a:xfrm>
            <a:off x="6629400" y="2228760"/>
            <a:ext cx="3828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Failure classes map to fixes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ailure-body"/>
          <p:cNvSpPr/>
          <p:nvPr/>
        </p:nvSpPr>
        <p:spPr>
          <a:xfrm>
            <a:off x="6629400" y="2685960"/>
            <a:ext cx="382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~55% wrong argument / info -&gt; validation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~25% wrong policy decision -&gt; policy boundary tests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~19% partial completion -&gt; completion checks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olicy-panel"/>
          <p:cNvSpPr/>
          <p:nvPr/>
        </p:nvSpPr>
        <p:spPr>
          <a:xfrm>
            <a:off x="6400800" y="4172040"/>
            <a:ext cx="428580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olicy-accent"/>
          <p:cNvSpPr/>
          <p:nvPr/>
        </p:nvSpPr>
        <p:spPr>
          <a:xfrm>
            <a:off x="6400800" y="4172040"/>
            <a:ext cx="75960" cy="112356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olicy-head"/>
          <p:cNvSpPr/>
          <p:nvPr/>
        </p:nvSpPr>
        <p:spPr>
          <a:xfrm>
            <a:off x="6629400" y="4381560"/>
            <a:ext cx="3828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Real policies matter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olicy-body"/>
          <p:cNvSpPr/>
          <p:nvPr/>
        </p:nvSpPr>
        <p:spPr>
          <a:xfrm>
            <a:off x="6629400" y="4838760"/>
            <a:ext cx="3828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Removing the policy dropped retail by 4.4 points, but airline by 22.4 points.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ource"/>
          <p:cNvSpPr/>
          <p:nvPr/>
        </p:nvSpPr>
        <p:spPr>
          <a:xfrm>
            <a:off x="609480" y="6419880"/>
            <a:ext cx="1097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Helvetica Neue"/>
                <a:ea typeface="Helvetica Neue"/>
              </a:rPr>
              <a:t>Historical 2024 τ-bench figures from attached article.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RELIABILITY FRAMEWORK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Capability improved seven times faster than reliability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Chart"/>
          <p:cNvGraphicFramePr/>
          <p:nvPr/>
        </p:nvGraphicFramePr>
        <p:xfrm>
          <a:off x="990720" y="2114640"/>
          <a:ext cx="5333760" cy="283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8" name="meaning-panel"/>
          <p:cNvSpPr/>
          <p:nvPr/>
        </p:nvSpPr>
        <p:spPr>
          <a:xfrm>
            <a:off x="7124760" y="2076480"/>
            <a:ext cx="3638160" cy="14857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meaning-accent"/>
          <p:cNvSpPr/>
          <p:nvPr/>
        </p:nvSpPr>
        <p:spPr>
          <a:xfrm>
            <a:off x="7124760" y="2076480"/>
            <a:ext cx="75960" cy="14857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meaning-head"/>
          <p:cNvSpPr/>
          <p:nvPr/>
        </p:nvSpPr>
        <p:spPr>
          <a:xfrm>
            <a:off x="7353360" y="228600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What the number means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meaning-body"/>
          <p:cNvSpPr/>
          <p:nvPr/>
        </p:nvSpPr>
        <p:spPr>
          <a:xfrm>
            <a:off x="7353360" y="2743200"/>
            <a:ext cx="31809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Over 18 months on GAIA, accuracy climbed at 0.21 per year. Aggregate reliability climbed at 0.03 per year.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implication-panel"/>
          <p:cNvSpPr/>
          <p:nvPr/>
        </p:nvSpPr>
        <p:spPr>
          <a:xfrm>
            <a:off x="7124760" y="4000680"/>
            <a:ext cx="3638160" cy="14094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implication-accent"/>
          <p:cNvSpPr/>
          <p:nvPr/>
        </p:nvSpPr>
        <p:spPr>
          <a:xfrm>
            <a:off x="7124760" y="4000680"/>
            <a:ext cx="75960" cy="140940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implication-head"/>
          <p:cNvSpPr/>
          <p:nvPr/>
        </p:nvSpPr>
        <p:spPr>
          <a:xfrm>
            <a:off x="7353360" y="421020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Product implication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implication-body"/>
          <p:cNvSpPr/>
          <p:nvPr/>
        </p:nvSpPr>
        <p:spPr>
          <a:xfrm>
            <a:off x="7353360" y="4667400"/>
            <a:ext cx="31809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A model upgrade can raise task success while leaving consistency, robustness, risk ranking, or safety almost unchanged.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RELIABILITY FRAMEWORK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Reliability has four dimensions that should not be averaged away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ons-panel"/>
          <p:cNvSpPr/>
          <p:nvPr/>
        </p:nvSpPr>
        <p:spPr>
          <a:xfrm>
            <a:off x="819000" y="1981080"/>
            <a:ext cx="49525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ons-accent"/>
          <p:cNvSpPr/>
          <p:nvPr/>
        </p:nvSpPr>
        <p:spPr>
          <a:xfrm>
            <a:off x="819000" y="1981080"/>
            <a:ext cx="75960" cy="11426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cons-head"/>
          <p:cNvSpPr/>
          <p:nvPr/>
        </p:nvSpPr>
        <p:spPr>
          <a:xfrm>
            <a:off x="1047600" y="219060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Consistency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ons-body"/>
          <p:cNvSpPr/>
          <p:nvPr/>
        </p:nvSpPr>
        <p:spPr>
          <a:xfrm>
            <a:off x="1047600" y="2647800"/>
            <a:ext cx="449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Same task, same conditions, same result and sufficiently stable path.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b-panel"/>
          <p:cNvSpPr/>
          <p:nvPr/>
        </p:nvSpPr>
        <p:spPr>
          <a:xfrm>
            <a:off x="6419880" y="1981080"/>
            <a:ext cx="49525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b-accent"/>
          <p:cNvSpPr/>
          <p:nvPr/>
        </p:nvSpPr>
        <p:spPr>
          <a:xfrm>
            <a:off x="6419880" y="1981080"/>
            <a:ext cx="75960" cy="114264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b-head"/>
          <p:cNvSpPr/>
          <p:nvPr/>
        </p:nvSpPr>
        <p:spPr>
          <a:xfrm>
            <a:off x="6648480" y="219060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Robustness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b-body"/>
          <p:cNvSpPr/>
          <p:nvPr/>
        </p:nvSpPr>
        <p:spPr>
          <a:xfrm>
            <a:off x="6648480" y="2647800"/>
            <a:ext cx="449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Performance survives wording changes, tool faults, and environment changes.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red-panel"/>
          <p:cNvSpPr/>
          <p:nvPr/>
        </p:nvSpPr>
        <p:spPr>
          <a:xfrm>
            <a:off x="819000" y="3638520"/>
            <a:ext cx="49525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red-accent"/>
          <p:cNvSpPr/>
          <p:nvPr/>
        </p:nvSpPr>
        <p:spPr>
          <a:xfrm>
            <a:off x="819000" y="3638520"/>
            <a:ext cx="75960" cy="11426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red-head"/>
          <p:cNvSpPr/>
          <p:nvPr/>
        </p:nvSpPr>
        <p:spPr>
          <a:xfrm>
            <a:off x="1047600" y="384804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Predictability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red-body"/>
          <p:cNvSpPr/>
          <p:nvPr/>
        </p:nvSpPr>
        <p:spPr>
          <a:xfrm>
            <a:off x="1047600" y="4305240"/>
            <a:ext cx="449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Confidence identifies which tasks are safe to automate and which need routing.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afe-panel"/>
          <p:cNvSpPr/>
          <p:nvPr/>
        </p:nvSpPr>
        <p:spPr>
          <a:xfrm>
            <a:off x="6419880" y="3638520"/>
            <a:ext cx="49525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afe-accent"/>
          <p:cNvSpPr/>
          <p:nvPr/>
        </p:nvSpPr>
        <p:spPr>
          <a:xfrm>
            <a:off x="6419880" y="3638520"/>
            <a:ext cx="75960" cy="114264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afe-head"/>
          <p:cNvSpPr/>
          <p:nvPr/>
        </p:nvSpPr>
        <p:spPr>
          <a:xfrm>
            <a:off x="6648480" y="3848040"/>
            <a:ext cx="4495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Safety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afe-body"/>
          <p:cNvSpPr/>
          <p:nvPr/>
        </p:nvSpPr>
        <p:spPr>
          <a:xfrm>
            <a:off x="6648480" y="4305240"/>
            <a:ext cx="449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Violation frequency and harm severity stay visible, especially tail events.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bottom"/>
          <p:cNvSpPr/>
          <p:nvPr/>
        </p:nvSpPr>
        <p:spPr>
          <a:xfrm>
            <a:off x="1219320" y="542916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For leaders, this creates a release conversation: which dimension matters most for this product, workflow, and permission boundary?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DIMENSION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Consistency separates stable automation from random failure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table-panel"/>
          <p:cNvSpPr/>
          <p:nvPr/>
        </p:nvSpPr>
        <p:spPr>
          <a:xfrm>
            <a:off x="800280" y="2038320"/>
            <a:ext cx="4190760" cy="1466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table-accent"/>
          <p:cNvSpPr/>
          <p:nvPr/>
        </p:nvSpPr>
        <p:spPr>
          <a:xfrm>
            <a:off x="800280" y="2038320"/>
            <a:ext cx="75960" cy="14666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table-head"/>
          <p:cNvSpPr/>
          <p:nvPr/>
        </p:nvSpPr>
        <p:spPr>
          <a:xfrm>
            <a:off x="1028880" y="2247840"/>
            <a:ext cx="37335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Systematic 90%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table-body"/>
          <p:cNvSpPr/>
          <p:nvPr/>
        </p:nvSpPr>
        <p:spPr>
          <a:xfrm>
            <a:off x="1028880" y="2705040"/>
            <a:ext cx="37335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Fails on the same identifiable 10% of tasks. Those cases can route to humans.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andom-panel"/>
          <p:cNvSpPr/>
          <p:nvPr/>
        </p:nvSpPr>
        <p:spPr>
          <a:xfrm>
            <a:off x="800280" y="4000680"/>
            <a:ext cx="4190760" cy="1466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andom-accent"/>
          <p:cNvSpPr/>
          <p:nvPr/>
        </p:nvSpPr>
        <p:spPr>
          <a:xfrm>
            <a:off x="800280" y="4000680"/>
            <a:ext cx="75960" cy="146664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andom-head"/>
          <p:cNvSpPr/>
          <p:nvPr/>
        </p:nvSpPr>
        <p:spPr>
          <a:xfrm>
            <a:off x="1028880" y="4210200"/>
            <a:ext cx="37335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Random 90%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andom-body"/>
          <p:cNvSpPr/>
          <p:nvPr/>
        </p:nvSpPr>
        <p:spPr>
          <a:xfrm>
            <a:off x="1028880" y="4667400"/>
            <a:ext cx="37335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Fails unpredictably across every task class. The next live request may break.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flow-panel"/>
          <p:cNvSpPr/>
          <p:nvPr/>
        </p:nvSpPr>
        <p:spPr>
          <a:xfrm>
            <a:off x="6362640" y="2076480"/>
            <a:ext cx="4095360" cy="24188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label"/>
          <p:cNvSpPr/>
          <p:nvPr/>
        </p:nvSpPr>
        <p:spPr>
          <a:xfrm>
            <a:off x="6629400" y="230508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Same final state, different operational risk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ath1"/>
          <p:cNvSpPr/>
          <p:nvPr/>
        </p:nvSpPr>
        <p:spPr>
          <a:xfrm>
            <a:off x="6743880" y="2952720"/>
            <a:ext cx="3428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6A34A"/>
                </a:solidFill>
                <a:effectLst/>
                <a:uFillTx/>
                <a:latin typeface="Helvetica Neue"/>
                <a:ea typeface="Helvetica Neue"/>
              </a:rPr>
              <a:t>Run A: check inventory -&gt; charge -&gt; ship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th2"/>
          <p:cNvSpPr/>
          <p:nvPr/>
        </p:nvSpPr>
        <p:spPr>
          <a:xfrm>
            <a:off x="6743880" y="3638520"/>
            <a:ext cx="3428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DC2626"/>
                </a:solidFill>
                <a:effectLst/>
                <a:uFillTx/>
                <a:latin typeface="Helvetica Neue"/>
                <a:ea typeface="Helvetica Neue"/>
              </a:rPr>
              <a:t>Run B: charge -&gt; check inventory -&gt; ship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ons-bottom"/>
          <p:cNvSpPr/>
          <p:nvPr/>
        </p:nvSpPr>
        <p:spPr>
          <a:xfrm>
            <a:off x="1809720" y="5619600"/>
            <a:ext cx="8572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Outcome consistency is not enough. Transactional systems also need path consistency for recoverability and auditability.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DIMENSION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Robustness fails where users vary: ordinary wording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Chart"/>
          <p:cNvGraphicFramePr/>
          <p:nvPr/>
        </p:nvGraphicFramePr>
        <p:xfrm>
          <a:off x="895320" y="2038320"/>
          <a:ext cx="6286320" cy="304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9" name="phrasing-panel"/>
          <p:cNvSpPr/>
          <p:nvPr/>
        </p:nvSpPr>
        <p:spPr>
          <a:xfrm>
            <a:off x="7867800" y="2247840"/>
            <a:ext cx="3238200" cy="19998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hrasing-accent"/>
          <p:cNvSpPr/>
          <p:nvPr/>
        </p:nvSpPr>
        <p:spPr>
          <a:xfrm>
            <a:off x="7867800" y="2247840"/>
            <a:ext cx="75960" cy="1999800"/>
          </a:xfrm>
          <a:prstGeom prst="rect">
            <a:avLst/>
          </a:prstGeom>
          <a:solidFill>
            <a:srgbClr val="EA580C"/>
          </a:solidFill>
          <a:ln w="9525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hrasing-head"/>
          <p:cNvSpPr/>
          <p:nvPr/>
        </p:nvSpPr>
        <p:spPr>
          <a:xfrm>
            <a:off x="8096400" y="2457360"/>
            <a:ext cx="2781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Why this matters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hrasing-body"/>
          <p:cNvSpPr/>
          <p:nvPr/>
        </p:nvSpPr>
        <p:spPr>
          <a:xfrm>
            <a:off x="8096400" y="2914560"/>
            <a:ext cx="27810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Users rarely match benchmark wording. An agent can recover from a 503 and still fail when the same intent is phrased naturally.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b-formula"/>
          <p:cNvSpPr/>
          <p:nvPr/>
        </p:nvSpPr>
        <p:spPr>
          <a:xfrm>
            <a:off x="7772400" y="4857840"/>
            <a:ext cx="3428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 = min(Acc_perturbed / Acc_baseline, 1)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DIMENSION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Predictability only helps if confidence ranks risk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al-panel"/>
          <p:cNvSpPr/>
          <p:nvPr/>
        </p:nvSpPr>
        <p:spPr>
          <a:xfrm>
            <a:off x="781200" y="2019240"/>
            <a:ext cx="3333240" cy="1371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al-accent"/>
          <p:cNvSpPr/>
          <p:nvPr/>
        </p:nvSpPr>
        <p:spPr>
          <a:xfrm>
            <a:off x="781200" y="2019240"/>
            <a:ext cx="75960" cy="13712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cal-head"/>
          <p:cNvSpPr/>
          <p:nvPr/>
        </p:nvSpPr>
        <p:spPr>
          <a:xfrm>
            <a:off x="1009800" y="2228760"/>
            <a:ext cx="2876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Calibration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l-body"/>
          <p:cNvSpPr/>
          <p:nvPr/>
        </p:nvSpPr>
        <p:spPr>
          <a:xfrm>
            <a:off x="1009800" y="2685960"/>
            <a:ext cx="28760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When the agent says 80%, does it succeed about 80% of the time?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disc-panel"/>
          <p:cNvSpPr/>
          <p:nvPr/>
        </p:nvSpPr>
        <p:spPr>
          <a:xfrm>
            <a:off x="4438800" y="2019240"/>
            <a:ext cx="3333240" cy="1371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disc-accent"/>
          <p:cNvSpPr/>
          <p:nvPr/>
        </p:nvSpPr>
        <p:spPr>
          <a:xfrm>
            <a:off x="4438800" y="2019240"/>
            <a:ext cx="75960" cy="13712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disc-head"/>
          <p:cNvSpPr/>
          <p:nvPr/>
        </p:nvSpPr>
        <p:spPr>
          <a:xfrm>
            <a:off x="4667400" y="2228760"/>
            <a:ext cx="2876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Discrimination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disc-body"/>
          <p:cNvSpPr/>
          <p:nvPr/>
        </p:nvSpPr>
        <p:spPr>
          <a:xfrm>
            <a:off x="4667400" y="2685960"/>
            <a:ext cx="28760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Do higher confidence scores actually separate likely successes from likely failures?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brier-panel"/>
          <p:cNvSpPr/>
          <p:nvPr/>
        </p:nvSpPr>
        <p:spPr>
          <a:xfrm>
            <a:off x="8096400" y="2019240"/>
            <a:ext cx="3333240" cy="1371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brier-accent"/>
          <p:cNvSpPr/>
          <p:nvPr/>
        </p:nvSpPr>
        <p:spPr>
          <a:xfrm>
            <a:off x="8096400" y="2019240"/>
            <a:ext cx="75960" cy="137124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brier-head"/>
          <p:cNvSpPr/>
          <p:nvPr/>
        </p:nvSpPr>
        <p:spPr>
          <a:xfrm>
            <a:off x="8325000" y="2228760"/>
            <a:ext cx="2876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Brier score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brier-body"/>
          <p:cNvSpPr/>
          <p:nvPr/>
        </p:nvSpPr>
        <p:spPr>
          <a:xfrm>
            <a:off x="8325000" y="2685960"/>
            <a:ext cx="28760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How costly are confidence errors on each individual task?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decision"/>
          <p:cNvSpPr/>
          <p:nvPr/>
        </p:nvSpPr>
        <p:spPr>
          <a:xfrm>
            <a:off x="1962000" y="4191120"/>
            <a:ext cx="8267400" cy="112356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decision-text"/>
          <p:cNvSpPr/>
          <p:nvPr/>
        </p:nvSpPr>
        <p:spPr>
          <a:xfrm>
            <a:off x="2381400" y="4476600"/>
            <a:ext cx="74293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Selective automation needs discrimination. Without it, confidence may look reasonable on average but cannot support release gates or human-routing thresholds.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DIMENSION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Safety is a tail-risk problem, so keep it separate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freq-panel"/>
          <p:cNvSpPr/>
          <p:nvPr/>
        </p:nvSpPr>
        <p:spPr>
          <a:xfrm>
            <a:off x="895320" y="2000160"/>
            <a:ext cx="4095360" cy="16570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freq-accent"/>
          <p:cNvSpPr/>
          <p:nvPr/>
        </p:nvSpPr>
        <p:spPr>
          <a:xfrm>
            <a:off x="895320" y="2000160"/>
            <a:ext cx="75960" cy="16570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freq-head"/>
          <p:cNvSpPr/>
          <p:nvPr/>
        </p:nvSpPr>
        <p:spPr>
          <a:xfrm>
            <a:off x="1123920" y="2209680"/>
            <a:ext cx="3638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Violation frequency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freq-body"/>
          <p:cNvSpPr/>
          <p:nvPr/>
        </p:nvSpPr>
        <p:spPr>
          <a:xfrm>
            <a:off x="1123920" y="2666880"/>
            <a:ext cx="36381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How often did the agent skip a required check, take an unauthorized action, or produce a forbidden outcome?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harm-panel"/>
          <p:cNvSpPr/>
          <p:nvPr/>
        </p:nvSpPr>
        <p:spPr>
          <a:xfrm>
            <a:off x="895320" y="4000680"/>
            <a:ext cx="4095360" cy="16570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harm-accent"/>
          <p:cNvSpPr/>
          <p:nvPr/>
        </p:nvSpPr>
        <p:spPr>
          <a:xfrm>
            <a:off x="895320" y="4000680"/>
            <a:ext cx="75960" cy="165708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harm-head"/>
          <p:cNvSpPr/>
          <p:nvPr/>
        </p:nvSpPr>
        <p:spPr>
          <a:xfrm>
            <a:off x="1123920" y="4210200"/>
            <a:ext cx="3638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Harm severity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harm-body"/>
          <p:cNvSpPr/>
          <p:nvPr/>
        </p:nvSpPr>
        <p:spPr>
          <a:xfrm>
            <a:off x="1123920" y="4667400"/>
            <a:ext cx="36381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When a violation happens, is it low-impact friction or a high-severity event like a wrong charge or irreversible action?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afety-formula"/>
          <p:cNvSpPr/>
          <p:nvPr/>
        </p:nvSpPr>
        <p:spPr>
          <a:xfrm>
            <a:off x="6114960" y="2381400"/>
            <a:ext cx="4476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R_saf = 1 - Pr(violation) x E[severity | violation]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ail"/>
          <p:cNvSpPr/>
          <p:nvPr/>
        </p:nvSpPr>
        <p:spPr>
          <a:xfrm>
            <a:off x="6095880" y="3790800"/>
            <a:ext cx="45334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C2626"/>
                </a:solidFill>
                <a:effectLst/>
                <a:uFillTx/>
                <a:latin typeface="Helvetica Neue"/>
                <a:ea typeface="Helvetica Neue"/>
              </a:rPr>
              <a:t>A 1% catastrophic failure should not disappear inside a good average score.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aviation"/>
          <p:cNvSpPr/>
          <p:nvPr/>
        </p:nvSpPr>
        <p:spPr>
          <a:xfrm>
            <a:off x="6191280" y="4952880"/>
            <a:ext cx="43430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This matches safety-critical engineering: tail events get separate thresholds.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SYNTHESIS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same incidents become diagnosable reliability failures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1" name=""/>
          <p:cNvGraphicFramePr/>
          <p:nvPr/>
        </p:nvGraphicFramePr>
        <p:xfrm>
          <a:off x="1104840" y="1962000"/>
          <a:ext cx="9981720" cy="3047760"/>
        </p:xfrm>
        <a:graphic>
          <a:graphicData uri="http://schemas.openxmlformats.org/drawingml/2006/table">
            <a:tbl>
              <a:tblPr/>
              <a:tblGrid>
                <a:gridCol w="2476440"/>
                <a:gridCol w="750564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Incident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reliability diagnosis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3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Replit</a:t>
                      </a:r>
                      <a:endParaRPr lang="en-US" sz="14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 harm severity + weak prompt robustness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3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Air Canada</a:t>
                      </a:r>
                      <a:endParaRPr lang="en-US" sz="14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Policy compliance failure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3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Operator</a:t>
                      </a:r>
                      <a:endParaRPr lang="en-US" sz="14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Confirmation and action-sequence compliance failure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3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NYC chatbot</a:t>
                      </a:r>
                      <a:endParaRPr lang="en-US" sz="14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Outcome inconsistency + poor calibration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2" name="synthesis-bottom"/>
          <p:cNvSpPr/>
          <p:nvPr/>
        </p:nvSpPr>
        <p:spPr>
          <a:xfrm>
            <a:off x="1619280" y="5467320"/>
            <a:ext cx="895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value of the framework is not taxonomy. It tells teams which test, guardrail, or release gate to add.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PRACTICAL USE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Reliability changes the agent development lifecycle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tep-0"/>
          <p:cNvSpPr/>
          <p:nvPr/>
        </p:nvSpPr>
        <p:spPr>
          <a:xfrm>
            <a:off x="743040" y="192420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num-0"/>
          <p:cNvSpPr/>
          <p:nvPr/>
        </p:nvSpPr>
        <p:spPr>
          <a:xfrm>
            <a:off x="914400" y="211464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tep-title-0"/>
          <p:cNvSpPr/>
          <p:nvPr/>
        </p:nvSpPr>
        <p:spPr>
          <a:xfrm>
            <a:off x="1428840" y="211464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Define envelope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tep-body-0"/>
          <p:cNvSpPr/>
          <p:nvPr/>
        </p:nvSpPr>
        <p:spPr>
          <a:xfrm>
            <a:off x="1428840" y="249552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Supported intents, tools, permissions, languages, and failure modes.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tep-1"/>
          <p:cNvSpPr/>
          <p:nvPr/>
        </p:nvSpPr>
        <p:spPr>
          <a:xfrm>
            <a:off x="4572000" y="192420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num-1"/>
          <p:cNvSpPr/>
          <p:nvPr/>
        </p:nvSpPr>
        <p:spPr>
          <a:xfrm>
            <a:off x="4743360" y="211464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2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tep-title-1"/>
          <p:cNvSpPr/>
          <p:nvPr/>
        </p:nvSpPr>
        <p:spPr>
          <a:xfrm>
            <a:off x="5257800" y="211464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Build eval environment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tep-body-1"/>
          <p:cNvSpPr/>
          <p:nvPr/>
        </p:nvSpPr>
        <p:spPr>
          <a:xfrm>
            <a:off x="5257800" y="249552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Real APIs, policies, simulated users, and goal-state grading.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tep-2"/>
          <p:cNvSpPr/>
          <p:nvPr/>
        </p:nvSpPr>
        <p:spPr>
          <a:xfrm>
            <a:off x="8400960" y="192420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num-2"/>
          <p:cNvSpPr/>
          <p:nvPr/>
        </p:nvSpPr>
        <p:spPr>
          <a:xfrm>
            <a:off x="8572680" y="211464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tep-title-2"/>
          <p:cNvSpPr/>
          <p:nvPr/>
        </p:nvSpPr>
        <p:spPr>
          <a:xfrm>
            <a:off x="9086760" y="211464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Run repeated tests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tep-body-2"/>
          <p:cNvSpPr/>
          <p:nvPr/>
        </p:nvSpPr>
        <p:spPr>
          <a:xfrm>
            <a:off x="9086760" y="249552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Report pass^k and perturb wording, tools, and environment.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tep-3"/>
          <p:cNvSpPr/>
          <p:nvPr/>
        </p:nvSpPr>
        <p:spPr>
          <a:xfrm>
            <a:off x="743040" y="354348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num-3"/>
          <p:cNvSpPr/>
          <p:nvPr/>
        </p:nvSpPr>
        <p:spPr>
          <a:xfrm>
            <a:off x="914400" y="373392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tep-title-3"/>
          <p:cNvSpPr/>
          <p:nvPr/>
        </p:nvSpPr>
        <p:spPr>
          <a:xfrm>
            <a:off x="1428840" y="373392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Profile dimensions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tep-body-3"/>
          <p:cNvSpPr/>
          <p:nvPr/>
        </p:nvSpPr>
        <p:spPr>
          <a:xfrm>
            <a:off x="1428840" y="411480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Report consistency, robustness, predictability, and safety separately.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tep-4"/>
          <p:cNvSpPr/>
          <p:nvPr/>
        </p:nvSpPr>
        <p:spPr>
          <a:xfrm>
            <a:off x="4572000" y="354348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num-4"/>
          <p:cNvSpPr/>
          <p:nvPr/>
        </p:nvSpPr>
        <p:spPr>
          <a:xfrm>
            <a:off x="4743360" y="373392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tep-title-4"/>
          <p:cNvSpPr/>
          <p:nvPr/>
        </p:nvSpPr>
        <p:spPr>
          <a:xfrm>
            <a:off x="5257800" y="373392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Gate releases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tep-body-4"/>
          <p:cNvSpPr/>
          <p:nvPr/>
        </p:nvSpPr>
        <p:spPr>
          <a:xfrm>
            <a:off x="5257800" y="411480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Set thresholds before pilot and production promotion.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tep-5"/>
          <p:cNvSpPr/>
          <p:nvPr/>
        </p:nvSpPr>
        <p:spPr>
          <a:xfrm>
            <a:off x="8400960" y="3543480"/>
            <a:ext cx="3352320" cy="11426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num-5"/>
          <p:cNvSpPr/>
          <p:nvPr/>
        </p:nvSpPr>
        <p:spPr>
          <a:xfrm>
            <a:off x="8572680" y="3733920"/>
            <a:ext cx="399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563EB"/>
                </a:solidFill>
                <a:effectLst/>
                <a:uFillTx/>
                <a:latin typeface="Helvetica Neue"/>
                <a:ea typeface="Helvetica Neue"/>
              </a:rPr>
              <a:t>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tep-title-5"/>
          <p:cNvSpPr/>
          <p:nvPr/>
        </p:nvSpPr>
        <p:spPr>
          <a:xfrm>
            <a:off x="9086760" y="3733920"/>
            <a:ext cx="2495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Regress incidents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tep-body-5"/>
          <p:cNvSpPr/>
          <p:nvPr/>
        </p:nvSpPr>
        <p:spPr>
          <a:xfrm>
            <a:off x="9086760" y="411480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Turn production failures into durable evaluation cases.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PRACTICAL USE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leadership decision is where autonomy is earned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evals-panel"/>
          <p:cNvSpPr/>
          <p:nvPr/>
        </p:nvSpPr>
        <p:spPr>
          <a:xfrm>
            <a:off x="819000" y="2000160"/>
            <a:ext cx="3142800" cy="1695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evals-accent"/>
          <p:cNvSpPr/>
          <p:nvPr/>
        </p:nvSpPr>
        <p:spPr>
          <a:xfrm>
            <a:off x="819000" y="2000160"/>
            <a:ext cx="75960" cy="16952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evals-head"/>
          <p:cNvSpPr/>
          <p:nvPr/>
        </p:nvSpPr>
        <p:spPr>
          <a:xfrm>
            <a:off x="1047600" y="2209680"/>
            <a:ext cx="2685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Evaluation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evals-body"/>
          <p:cNvSpPr/>
          <p:nvPr/>
        </p:nvSpPr>
        <p:spPr>
          <a:xfrm>
            <a:off x="1047600" y="2666880"/>
            <a:ext cx="26856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Repeated and perturbed tests decide where the agent is trustworthy.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ates-panel"/>
          <p:cNvSpPr/>
          <p:nvPr/>
        </p:nvSpPr>
        <p:spPr>
          <a:xfrm>
            <a:off x="4533840" y="2000160"/>
            <a:ext cx="3142800" cy="1695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ates-accent"/>
          <p:cNvSpPr/>
          <p:nvPr/>
        </p:nvSpPr>
        <p:spPr>
          <a:xfrm>
            <a:off x="4533840" y="2000160"/>
            <a:ext cx="75960" cy="16952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gates-head"/>
          <p:cNvSpPr/>
          <p:nvPr/>
        </p:nvSpPr>
        <p:spPr>
          <a:xfrm>
            <a:off x="4762440" y="2209680"/>
            <a:ext cx="2685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Release gates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ates-body"/>
          <p:cNvSpPr/>
          <p:nvPr/>
        </p:nvSpPr>
        <p:spPr>
          <a:xfrm>
            <a:off x="4762440" y="2666880"/>
            <a:ext cx="26856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Thresholds decide when to move from experiment to pilot to production.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contain-panel"/>
          <p:cNvSpPr/>
          <p:nvPr/>
        </p:nvSpPr>
        <p:spPr>
          <a:xfrm>
            <a:off x="8248680" y="2000160"/>
            <a:ext cx="3142800" cy="16952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contain-accent"/>
          <p:cNvSpPr/>
          <p:nvPr/>
        </p:nvSpPr>
        <p:spPr>
          <a:xfrm>
            <a:off x="8248680" y="2000160"/>
            <a:ext cx="75960" cy="169524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contain-head"/>
          <p:cNvSpPr/>
          <p:nvPr/>
        </p:nvSpPr>
        <p:spPr>
          <a:xfrm>
            <a:off x="8477280" y="2209680"/>
            <a:ext cx="2685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Containment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contain-body"/>
          <p:cNvSpPr/>
          <p:nvPr/>
        </p:nvSpPr>
        <p:spPr>
          <a:xfrm>
            <a:off x="8477280" y="2666880"/>
            <a:ext cx="26856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Permissions, confirmations, and rollback limit damage when evaluation is wrong.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leader"/>
          <p:cNvSpPr/>
          <p:nvPr/>
        </p:nvSpPr>
        <p:spPr>
          <a:xfrm>
            <a:off x="1409760" y="4648320"/>
            <a:ext cx="9372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For product and engineering leaders, reliability is not a model-selection afterthought. It is an operating contract for which workflows the agent may own.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ection"/>
          <p:cNvSpPr/>
          <p:nvPr/>
        </p:nvSpPr>
        <p:spPr>
          <a:xfrm>
            <a:off x="609480" y="324000"/>
            <a:ext cx="495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CLOSE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lide-number"/>
          <p:cNvSpPr/>
          <p:nvPr/>
        </p:nvSpPr>
        <p:spPr>
          <a:xfrm>
            <a:off x="11182320" y="32400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Helvetica Neue"/>
                <a:ea typeface="Helvetica Neue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itle"/>
          <p:cNvSpPr/>
          <p:nvPr/>
        </p:nvSpPr>
        <p:spPr>
          <a:xfrm>
            <a:off x="609480" y="685800"/>
            <a:ext cx="109724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Measure behavior, limit damage, then scale autonomy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09480" y="1466640"/>
            <a:ext cx="10972800" cy="360"/>
          </a:xfrm>
          <a:prstGeom prst="line">
            <a:avLst/>
          </a:prstGeom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bullets"/>
          <p:cNvSpPr/>
          <p:nvPr/>
        </p:nvSpPr>
        <p:spPr>
          <a:xfrm>
            <a:off x="1352520" y="1981080"/>
            <a:ext cx="9486720" cy="23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• Task success answers whether an agent can complete a task once.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• Reliability answers whether it behaves correctly across repeated, varied, real interactions.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• τ-bench supplies repeatable environments and pass^k.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• The reliability framework separates consistency, robustness, predictability, and safety.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• The engineering discipline is ADLC: evals, gates, monitoring, containment, and regression tests.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final"/>
          <p:cNvSpPr/>
          <p:nvPr/>
        </p:nvSpPr>
        <p:spPr>
          <a:xfrm>
            <a:off x="1295280" y="512460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111827"/>
                </a:solidFill>
                <a:effectLst/>
                <a:uFillTx/>
                <a:latin typeface="Helvetica Neue"/>
                <a:ea typeface="Helvetica Neue"/>
              </a:rPr>
              <a:t>The Replit agent could write code but could not be trusted. Closing that gap requires reliability engineering, not just another model release.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ource"/>
          <p:cNvSpPr/>
          <p:nvPr/>
        </p:nvSpPr>
        <p:spPr>
          <a:xfrm>
            <a:off x="609480" y="6419880"/>
            <a:ext cx="10972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Helvetica Neue"/>
                <a:ea typeface="Helvetica Neue"/>
              </a:rPr>
              <a:t>Sources: τ-bench, Towards a Science of AI Agent Reliability, attached publication.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2026-07-14T00:23:26Z</dcterms:created>
  <dc:creator>Walnut Exporter</dc:creator>
  <dc:description/>
  <dc:language>en-US</dc:language>
  <cp:lastModifiedBy/>
  <dcterms:modified xsi:type="dcterms:W3CDTF">2026-07-13T17:27:22Z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