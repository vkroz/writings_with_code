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05840"/>
            <a:ext cx="4754880" cy="4754880"/>
          </a:xfrm>
          <a:prstGeom prst="ellipse">
            <a:avLst/>
          </a:prstGeom>
          <a:ln w="19050">
            <a:solidFill>
              <a:srgbClr val="2A9D8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874520"/>
            <a:ext cx="3017520" cy="301752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606040"/>
            <a:ext cx="1554480" cy="1554480"/>
          </a:xfrm>
          <a:prstGeom prst="ellipse">
            <a:avLst/>
          </a:prstGeom>
          <a:solidFill>
            <a:srgbClr val="2A9D8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BRIEFING  ·  25 MIN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Reliable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agent can still be an unsafe system.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task success to a science of behavior — 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(arXiv:2406.12045)   ·   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Science of AI Agent Reliability</a:t>
            </a:r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(arXiv:2602.16666)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failures, one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256032" cy="25603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3794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 coding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4231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a live production database during a code freeze — despite instructions forbidding changes.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11096"/>
            <a:ext cx="256032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931152" y="183794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Canada chatbot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0" y="187452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28816" y="242316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 bereavement-refund policy. A tribunal ordered the airline to pay; the “separate entity” defense failed.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05656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1261872" y="4032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Operator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461772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eggs for $31.43 without asking for confirmation of the purchase.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05656"/>
            <a:ext cx="256032" cy="256032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31152" y="4032504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business chatbot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41280" y="4069080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28816" y="4617720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ten journalists ten different wrong answers to the same questions.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evaluation gap underneath all four:  </a:t>
            </a:r>
            <a:pPr algn="ctr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test whether an agent can succeed once — not whether it behaves reliably every time.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ask the wrong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it succeed once?”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green run — one task, one attempt, one pass.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49240" cy="2468880"/>
          </a:xfrm>
          <a:prstGeom prst="roundRect">
            <a:avLst>
              <a:gd name="adj" fmla="val 3333"/>
            </a:avLst>
          </a:prstGeom>
          <a:solidFill>
            <a:srgbClr val="E6F3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it behave — every time?”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Correctly, consistently, robustly, predictably, and safely — across millions of repeated real interactions.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109960" cy="1600200"/>
          </a:xfrm>
          <a:prstGeom prst="roundRect">
            <a:avLst>
              <a:gd name="adj" fmla="val 514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526280"/>
            <a:ext cx="10469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not pure functions.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stochastic systems assembled from model · prompt · memory · tools · policies · permissions · orchestration · external state.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green run tells us little about the behavior distribution.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papers set the direction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τ-bench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· 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agent success rates hide inconsistency.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us pass^k — the probability of getting it right every time, not just once.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customer-service environment: real tools, policies, simulated users, goal-state grading.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arXiv:2406.12045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4708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a Science of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Reliability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37960" y="2670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Rabanser et al. ·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035808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reliability lags capability: 0.03/yr vs 0.21/yr over 18 months.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 to measure it: consistency, robustness, predictability, safety.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metrics · 15 agentic models · GAIA + τ-bench.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arXiv:2602.16666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climbed 7× faster than reliability.  </a:t>
            </a:r>
            <a:pPr algn="ctr"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alone does not close the gap.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ln w="19050">
            <a:solidFill>
              <a:srgbClr val="2A9D8F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A9D8F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51760" y="251460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τ-bench — task success is not enough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97480" y="37033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environment that measures behavior, not a single green run.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one-shot benchmarks miss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reveal intent incrementally and imprecisely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23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7802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 partial and changing state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10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constrain permitted actions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0507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actions modify persistent records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420624" cy="42062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828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83717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similar requests must get similar treatment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20840" y="1691640"/>
            <a:ext cx="4937760" cy="3977640"/>
          </a:xfrm>
          <a:prstGeom prst="roundRect">
            <a:avLst>
              <a:gd name="adj" fmla="val 206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9659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are the feedback loop of agent engineering.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297180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reproducible environment, failures stay anecdotes, prompt changes can’t be compared, and upgrades hide silent regressions.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40880" y="4251960"/>
            <a:ext cx="42976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4348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question:  </a:t>
            </a:r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“Can it succeed?” but “Will it behave reliably in production?”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domains, one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τ-retail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48840" y="2414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7797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31455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493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35112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8587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38770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tools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315968"/>
            <a:ext cx="47548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074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mostly common sense.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τ-airline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3957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24140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7614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63840" y="27797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3127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63840" y="31455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493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63840" y="35112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8587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63840" y="38770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0" y="4315968"/>
            <a:ext cx="47548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4074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Harder: rules depend on fare class, cabin, membership, timing, payment.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93776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5074920"/>
            <a:ext cx="10469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API tools · natural-language policy · LLM-simulated users · annotated goal states.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extended it — τ²-bench added telecom + dual-control; τ³-bench added banking, a voice modality, and task corrections.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Outcome-based, trajectory-invariant grading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1234440"/>
          </a:xfrm>
          <a:prstGeom prst="roundRect">
            <a:avLst>
              <a:gd name="adj" fmla="val 6667"/>
            </a:avLst>
          </a:prstGeom>
          <a:solidFill>
            <a:srgbClr val="E6F3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pic>
        <p:nvPicPr>
          <p:cNvPr id="5" name="Image 0" descr="/sessions/dazzling-eloquent-bohr/mnt/outputs/assets/f_rew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83280" y="1783080"/>
            <a:ext cx="539496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15468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79476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plays the customer from a hidden brief — sampling makes repeated trials cheap.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compares end states, not paths: any tool sequence reaching the goal scores 1.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deterministic — no LLM judge in the loop; cheap to re-run many times.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3154680"/>
            <a:ext cx="5394960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can’t see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379476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endpoint, not the process — an agent can reach the right state while skipping a mandated step (refund without confirmation).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moves to annotation: every valid ending must be enumerated (40+ trials per retail task).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metrics, two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pass@k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of k attempts succeeds.</a:t>
            </a:r>
            <a:endParaRPr lang="en-US" sz="1500" dirty="0"/>
          </a:p>
        </p:txBody>
      </p:sp>
      <p:pic>
        <p:nvPicPr>
          <p:cNvPr id="7" name="Image 0" descr="/sessions/dazzling-eloquent-bohr/mnt/outputs/assets/f_passk_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3063240"/>
            <a:ext cx="470916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114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code generation: sample many candidates, a test suite picks a winner.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attempts improve the odds.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E6F3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pass^k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37960" y="2450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ALL k attempts succeed.</a:t>
            </a:r>
            <a:endParaRPr lang="en-US" sz="1500" dirty="0"/>
          </a:p>
        </p:txBody>
      </p:sp>
      <p:pic>
        <p:nvPicPr>
          <p:cNvPr id="12" name="Image 1" descr="/sessions/dazzling-eloquent-bohr/mnt/outputs/assets/f_passk_p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3063240"/>
            <a:ext cx="4709160" cy="868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4114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customer-facing, business-critical deployment.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receives one execution — repeating the task must keep producing the right result.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once is not reliable</a:t>
            </a:r>
            <a:endParaRPr lang="en-US" sz="3000" dirty="0"/>
          </a:p>
        </p:txBody>
      </p:sp>
      <p:pic>
        <p:nvPicPr>
          <p:cNvPr id="4" name="Image 0" descr="/sessions/dazzling-eloquent-bohr/mnt/outputs/assets/chart_pas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7607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pic>
        <p:nvPicPr>
          <p:cNvPr id="6" name="Image 1" descr="/sessions/dazzling-eloquent-bohr/mnt/outputs/assets/f_pow8_ligh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2148840"/>
            <a:ext cx="448056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520440"/>
            <a:ext cx="5166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by single-run accuracy — </a:t>
            </a:r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under a 50% chance of completing the same task correctly eight times in a row.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502920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independent runs at p = 0.9. Runnable reference implementations ship in the companion notebook.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 ·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config was still shaky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GPT-4o with native function calling.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8600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61.2%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pass^1 · retail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228600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4992" y="32461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pass^1 · airline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210312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228600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81344" y="32461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pass^1 · averaged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97696" y="2103120"/>
            <a:ext cx="2670048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228600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997696" y="3246120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pass^8 · retail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480560"/>
            <a:ext cx="10469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retail task eight times, and it succeeds every time less than a quarter of the time.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the agent could solve once, it often could not solve every time.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 ·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failed retail runs → three fixes</a:t>
            </a:r>
            <a:endParaRPr lang="en-US" sz="3000" dirty="0"/>
          </a:p>
        </p:txBody>
      </p:sp>
      <p:pic>
        <p:nvPicPr>
          <p:cNvPr id="4" name="Image 0" descr="/sessions/dazzling-eloquent-bohr/mnt/outputs/assets/chart_fail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28800"/>
            <a:ext cx="60350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874520"/>
            <a:ext cx="4892040" cy="1170432"/>
          </a:xfrm>
          <a:prstGeom prst="roundRect">
            <a:avLst>
              <a:gd name="adj" fmla="val 7031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49440" y="20756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001000" y="20391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argument / info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23774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state tracking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26517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 validation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3191256"/>
            <a:ext cx="4892040" cy="1170432"/>
          </a:xfrm>
          <a:prstGeom prst="roundRect">
            <a:avLst>
              <a:gd name="adj" fmla="val 7031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3392424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01000" y="33558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policy decision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01000" y="36941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rule-following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01000" y="39684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policy boundary tests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66560" y="4507992"/>
            <a:ext cx="4892040" cy="1170432"/>
          </a:xfrm>
          <a:prstGeom prst="roundRect">
            <a:avLst>
              <a:gd name="adj" fmla="val 7031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47091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001000" y="46725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completion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01000" y="50109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planning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01000" y="52852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completion checks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 ·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the policy, re-score</a:t>
            </a:r>
            <a:endParaRPr lang="en-US" sz="3000" dirty="0"/>
          </a:p>
        </p:txBody>
      </p:sp>
      <p:pic>
        <p:nvPicPr>
          <p:cNvPr id="4" name="Image 0" descr="/sessions/dazzling-eloquent-bohr/mnt/outputs/assets/chart_policy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2120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78308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20116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 −4.4 pts.  </a:t>
            </a:r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common sense — the rules barely mattered.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352044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749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 −22.4 pts.  </a:t>
            </a:r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the fine print — fare class, cabin, timing.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0" y="52578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test against the client’s real policies.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Τ³-BENCH ·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rose — unevenly</a:t>
            </a:r>
            <a:endParaRPr lang="en-US" sz="3000" dirty="0"/>
          </a:p>
        </p:txBody>
      </p:sp>
      <p:pic>
        <p:nvPicPr>
          <p:cNvPr id="4" name="Image 0" descr="/sessions/dazzling-eloquent-bohr/mnt/outputs/assets/chart_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0292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965960"/>
            <a:ext cx="5532120" cy="1463040"/>
          </a:xfrm>
          <a:prstGeom prst="roundRect">
            <a:avLst>
              <a:gd name="adj" fmla="val 5625"/>
            </a:avLst>
          </a:prstGeom>
          <a:solidFill>
            <a:srgbClr val="E6F3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2148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&gt; 98%.  </a:t>
            </a:r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agents nearly solve 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3611880"/>
            <a:ext cx="5532120" cy="1463040"/>
          </a:xfrm>
          <a:prstGeom prst="roundRect">
            <a:avLst>
              <a:gd name="adj" fmla="val 5625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3794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&lt; 27%.  </a:t>
            </a:r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breaks 27% on the hardest domain.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0" y="5257800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rose. It did not become uniform — and it did not bring reliability with it.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ln w="19050">
            <a:solidFill>
              <a:srgbClr val="2A9D8F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A9D8F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651760" y="251460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a Science of AI Agent Reliability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97480" y="37033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models · GAIA + τ-bench · 12 metrics · four dimensions borrowed from aviation, nuclear, rail.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outran reliability — a 7× gap</a:t>
            </a:r>
            <a:endParaRPr lang="en-US" sz="3000" dirty="0"/>
          </a:p>
        </p:txBody>
      </p:sp>
      <p:pic>
        <p:nvPicPr>
          <p:cNvPr id="4" name="Image 0" descr="/sessions/dazzling-eloquent-bohr/mnt/outputs/assets/chart_capability_g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45920"/>
            <a:ext cx="57607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7452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18 months on GAIA: accuracy +0.21/yr, aggregate reliability +0.03/yr —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 of seven.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accuracy alone hides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fails the same identifiable 10% every time → route those to humans.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fails randomly on 10% of every task class.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90%. Only Agent A supports predictable automation.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dimensions of reliability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domains where reliability is non-negotiable: aviation · nuclear · automotive · rail.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9536" y="2971800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same conditions — same result?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30428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3172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28816" y="2971800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performance survive changed conditions?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315968"/>
            <a:ext cx="457200" cy="45720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Predictability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" y="4983480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agent know when it will fail?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43159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3434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8816" y="4983480"/>
            <a:ext cx="4837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does it get when a failure happens?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1 · 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in what, not when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pic>
        <p:nvPicPr>
          <p:cNvPr id="5" name="Image 0" descr="/sessions/dazzling-eloquent-bohr/mnt/outputs/assets/f_c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0" y="1737360"/>
            <a:ext cx="502920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6720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runs at temperature 0 still diverge — float non-associativity, batching, implementation. Temp 0 ≠ deterministic.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separates consistency from capability: an always-failing agent has pass^k = 0 yet is perfectly consistent.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consistency: Jensen–Shannon on which actions; Levenshtein on their order. Agents are consistent in what they do, inconsistent in when.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89520" y="2880360"/>
            <a:ext cx="4069080" cy="2788920"/>
          </a:xfrm>
          <a:prstGeom prst="roundRect">
            <a:avLst>
              <a:gd name="adj" fmla="val 2951"/>
            </a:avLst>
          </a:prstGeom>
          <a:solidFill>
            <a:srgbClr val="E6F3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order matters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63840" y="34747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inventory then charge — or charge first? Both may pass, but an interruption leaves different states: one recoverable, one an incorrect charge.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4892040"/>
            <a:ext cx="3520440" cy="0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50292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are often more consistent — fewer valid paths, less run-to-run variation.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2 · 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Paraphrase is the axis that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pic>
        <p:nvPicPr>
          <p:cNvPr id="5" name="Image 0" descr="/sessions/dazzling-eloquent-bohr/mnt/outputs/assets/f_rob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10512"/>
            <a:ext cx="43891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Perturbations: API timeouts + HTTP 503s (p = 0.2); environment changes (reordered JSON, renamed params); five paraphrases per task.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and environment changes barely dent accuracy.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paraphrase is the main differentiator — users never match benchmark wording.</a:t>
            </a:r>
            <a:endParaRPr lang="en-US" sz="1450" dirty="0"/>
          </a:p>
        </p:txBody>
      </p:sp>
      <p:pic>
        <p:nvPicPr>
          <p:cNvPr id="7" name="Image 1" descr="/sessions/dazzling-eloquent-bohr/mnt/outputs/assets/chart_robustn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83080"/>
            <a:ext cx="5394960" cy="3017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4892040"/>
            <a:ext cx="5349240" cy="822960"/>
          </a:xfrm>
          <a:prstGeom prst="roundRect">
            <a:avLst>
              <a:gd name="adj" fmla="val 100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583680" y="4983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from a 503 —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fails when “cancel my subscription” becomes “please end my plan.”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3 · PREDICTABILITY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is not discriminating</a:t>
            </a:r>
            <a:endParaRPr lang="en-US" sz="3000" dirty="0"/>
          </a:p>
        </p:txBody>
      </p:sp>
      <p:pic>
        <p:nvPicPr>
          <p:cNvPr id="4" name="Image 0" descr="/sessions/dazzling-eloquent-bohr/mnt/outputs/assets/chart_predict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783080"/>
            <a:ext cx="55778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metrics: calibration (P_cal = 1 − ECE), discrimination (AUROC), Brier score.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improved — frontier models’ confidence is numerically accurate on average (Claude strongest across both benchmarks).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did not — AUROC near 0.5 means confidence ranks a success above a failure barely better than chance.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70916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automation — auto-approve high-confidence, route the rest to humans — needs discrimination,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aggregate calibration.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4 ·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separately, deliberately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pic>
        <p:nvPicPr>
          <p:cNvPr id="5" name="Image 0" descr="/sessions/dazzling-eloquent-bohr/mnt/outputs/assets/f_safe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0" y="1810512"/>
            <a:ext cx="594360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6720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S_comp: fraction of runs without violations (skipped ID checks, unauthorized actions).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severity S_harm: buckets violations low (0.25) · medium (0.5) · high (1.0).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 the Kaplan–Garrick (1981) risk model — probability × consequence.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89520" y="2926080"/>
            <a:ext cx="4069080" cy="2743200"/>
          </a:xfrm>
          <a:prstGeom prst="roundRect">
            <a:avLst>
              <a:gd name="adj" fmla="val 3000"/>
            </a:avLst>
          </a:prstGeom>
          <a:solidFill>
            <a:srgbClr val="E6F3F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3108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it’s excluded from the aggregate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370332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events dominate. Safe in 99% of runs but catastrophic in 1% should not average to a good score.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4800600"/>
            <a:ext cx="352044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4937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targets &lt; 1 catastrophe per 10⁹ flight hours. Top τ-bench violation: financial inaccuracy.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four failures — now labeled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237744" cy="237744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819656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2350008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harm severity + weak prompt robustness. Irreversible action; “don’t touch the DB” did not survive rephrasing.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1892808"/>
            <a:ext cx="237744" cy="237744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819656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Canada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2350008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Policy-compliance failure. Invented a rule the policy never contained — exactly what the ablation exposes.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968496"/>
            <a:ext cx="237744" cy="23774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38953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" y="4425696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failure, visible in the action sequence: spent $31.43 without the mandated confirmation.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675888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3968496"/>
            <a:ext cx="237744" cy="237744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38953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chatbot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4425696"/>
            <a:ext cx="48371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inconsistency + poor calibration. Ten runs, ten wrong answers, none flagged low-confidence.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objection — “bigger models will just be reliable” — holds only at perfect accuracy. Scaling alone did not close the gap.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reliability into the lifecycle (ADLC)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74650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operating envelope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20370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intents, languages, tools, failure modes. Reliability is always relative to this.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856232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856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22592" y="174650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representative eval environment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8816" y="220370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APIs, policies, simulated users, goal-state grading. One task → one outcome.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73552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53312" y="316382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repeated + perturbed tests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362102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pass^k, not pass^1. Test paraphrases, faults, env changes. CI needs repeated runs.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273552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22592" y="316382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reliability profile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28816" y="362102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four dimensions separately; weight them by application. Weighting is an engineering choice.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690872"/>
            <a:ext cx="402336" cy="40233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690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53312" y="45811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release gates + containment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before production. Replit was a reliability AND a containment failure.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348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690872"/>
            <a:ext cx="402336" cy="40233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690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22592" y="458114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failures into regression tests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28816" y="5038344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 incident; map to a dimension; re-run. Qualification in January ≠ June.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 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88036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decay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65760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test sets get memorized. Benchmarks must become generative and parameterized — sampling fresh environments, not replaying a fixed set.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488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88036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attribution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08576" y="365760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metrics for multi-agent reliability. Errors propagate across agent boundaries, making the source of failure hard to pin down.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4884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880360"/>
            <a:ext cx="30083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LLM-judge problem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65760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evaluation leans on LLM judges — which share the same inconsistency, prompt sensitivity, and calibration errors as the systems they grade.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5486400" cy="5486400"/>
          </a:xfrm>
          <a:prstGeom prst="ellipse">
            <a:avLst/>
          </a:prstGeom>
          <a:ln w="15240">
            <a:solidFill>
              <a:srgbClr val="2A9D8F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CHANGED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</a:t>
            </a:r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9FB0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often does it succeed?”</a:t>
            </a:r>
            <a:pPr indent="0" marL="0">
              <a:lnSpc>
                <a:spcPct val="105000"/>
              </a:lnSpc>
              <a:buNone/>
            </a:pP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consistently, robustly, predictably, and safely does it behave?”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0744200" cy="1280160"/>
          </a:xfrm>
          <a:prstGeom prst="roundRect">
            <a:avLst>
              <a:gd name="adj" fmla="val 6429"/>
            </a:avLst>
          </a:prstGeom>
          <a:solidFill>
            <a:srgbClr val="16233D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88900" dist="25400" dir="5400000">
              <a:srgbClr val="8895A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977640"/>
            <a:ext cx="10195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τ-bench made it measurable.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framework split it into dimensions.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ADLC connects it to testing, release, monitoring, and containment.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 is an engineering discipline — not another model release.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Reliable AI Agents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282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2026-07-14T00:18:57Z</dcterms:created>
  <dcterms:modified xsi:type="dcterms:W3CDTF">2026-07-14T00:18:57Z</dcterms:modified>
</cp:coreProperties>
</file>